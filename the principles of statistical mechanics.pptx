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08AB-00D7-82F2-E1A4-023F7A5A8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2F84D-5D31-5510-8D49-597C647B1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EB34A-CD31-12D9-B188-1D217330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270DC-4FF9-C472-7712-7279B4F6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52B3A-5638-3C61-94FE-BEC29806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4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B3CF-CB6B-3DCD-B00A-01767D35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E736F-C59B-B07D-D6E2-8FF6131B7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EE493-75A6-90C6-62A5-EB3BCC10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77F9-A405-29B0-B852-F1871188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88722-D78A-BFB0-D3DB-3FB28E97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2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98C2-63D7-0BF9-FCE9-27E37D1A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EABEF-DBF6-FAB2-BBC0-7E6B6AE4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C6733-D095-0D46-3628-8559A1D2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3539D-DD32-17EB-7B86-039E05DE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CAC5-67E3-8499-DF3F-40640933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069A-4405-F121-B9DD-6E51648C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15B5-8EF1-E672-9E32-EEB6501B1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4DEFA-52F9-C5DA-7338-57B53039B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BAA0B-A358-1879-7918-D9D408E7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AD63B-26AB-C780-7F8A-15C4CDA2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7C3CE-A468-AF79-4C17-3A2DFE6C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0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BD29-0B81-BF00-2243-DAB19818B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9535A-21FE-323D-DD98-5682E2E02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06EC3-ABB0-2C80-D1BA-2CDE18613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75072-79A0-20E0-FA02-DBAF9A88A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81C93-9176-3377-30B7-6A53F77ED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CECDF-E1C3-8251-55B8-19888E2F1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717A33-9230-8EBA-BFD9-5D3ABAFE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2085A-8279-9A29-7A15-75CC6972F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9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5920-3D2F-F0EA-985A-0CCA208C1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710B9-22E0-A4CD-94D2-5D2B60C1F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528B3-BE6A-B8B8-8C27-D3BAE15D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DBACB-815D-2F82-3844-FD5DEF48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1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55ADF-FBC7-114F-72B6-38B4C28F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5DD4D-B8C7-A43C-3A07-BFEDD74C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A3E45-557B-8274-4DF3-5AFD217E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3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913A-2D41-D8FC-2BA6-ECF82860A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A885B-8C9A-2F87-FBAC-D8540229C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75C74-DD05-B7BF-9786-5A9AB3416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FD6C1-A685-5B0D-F58D-CB4CC6EC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7A265-0061-F83E-6C58-3B238406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2310-C431-3904-7003-86DD72BA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0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846C-6094-4A1E-E9C6-6EA977F4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3C4CBD-33F3-F762-B56F-7FB8DAB6A13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F6122-8D47-6E33-F04B-98B574FF6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24C95-C22D-0C36-E8AE-F9D06F5C7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3EBC5-1C52-2B64-E9E4-161CBC39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153D1-9724-D5F5-3E48-B104214B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8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E475-1BA8-CD92-0B29-F2C9B5FA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9EF2B-A190-4012-0C76-BB4D151EA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46B37-E3AF-E48E-B77E-933F4DA2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6C609-5A29-CF92-513D-9BDB29DC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2CE7F-EB56-6935-932B-5086E721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4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C4C50-CF17-CEFF-A9EC-3B9581C85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34BD2-371F-888A-8CEE-BD51F42A8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FC65B-7159-6780-405F-9E91D09D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67D97-FA9A-746B-9486-75682EA5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7EAB-3825-794D-041E-75F337AA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0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5D6EF-6C48-6715-616B-9628DA50B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E81A3-4AB9-C6AA-E6EB-5DD303A8D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EFC11-4CBB-87B1-6B3B-1F994C4C3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3884B-9AE7-4FC6-8989-8EB636A522B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3AD29-1141-A635-9827-30E4099F0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CA2ED-4D15-73F4-D846-EA477392D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DFC01-6718-4817-B1BE-FEA951FA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9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B73F7C-1746-1C21-B1C3-49BAAEF23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Classical Mechanics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B848009-ADFF-80CA-A425-30A43A9DE9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84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DB32-EDF7-F4B7-CADC-8563AE66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 of a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1E07F7-C02D-99F1-B93E-42BD12179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State</a:t>
                </a:r>
                <a:r>
                  <a:rPr lang="zh-TW" altLang="en-US" sz="2400" dirty="0"/>
                  <a:t> </a:t>
                </a:r>
                <a:endParaRPr lang="en-US" sz="2400" dirty="0"/>
              </a:p>
              <a:p>
                <a:pPr lvl="1"/>
                <a:r>
                  <a:rPr lang="en-US" sz="2000" dirty="0"/>
                  <a:t>Minimum number of variables required to fully determine the future trajectory of a system</a:t>
                </a:r>
              </a:p>
              <a:p>
                <a:r>
                  <a:rPr lang="en-US" sz="2400" dirty="0"/>
                  <a:t>Non-Holonomic</a:t>
                </a:r>
              </a:p>
              <a:p>
                <a:pPr lvl="1"/>
                <a:r>
                  <a:rPr lang="en-US" sz="2000" dirty="0"/>
                  <a:t>The elements in the derivative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are coupled by constrains</a:t>
                </a:r>
              </a:p>
              <a:p>
                <a:pPr lvl="1"/>
                <a:r>
                  <a:rPr lang="en-US" sz="2000" dirty="0"/>
                  <a:t>*Some path cannot be taken even if all the states along the trajectory are permissible </a:t>
                </a:r>
              </a:p>
              <a:p>
                <a:pPr lvl="1"/>
                <a:r>
                  <a:rPr lang="en-US" sz="2000" dirty="0"/>
                  <a:t>E.g. Unicycle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atan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⁡(</m:t>
                    </m:r>
                    <m:acc>
                      <m:accPr>
                        <m:chr m:val="̇"/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400" dirty="0"/>
              </a:p>
              <a:p>
                <a:r>
                  <a:rPr lang="en-US" sz="2400" dirty="0"/>
                  <a:t>Degrees of Freedom</a:t>
                </a:r>
              </a:p>
              <a:p>
                <a:pPr lvl="1"/>
                <a:r>
                  <a:rPr lang="en-US" sz="2000" dirty="0"/>
                  <a:t>The difference between number of states and the non-holonomic constrains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1E07F7-C02D-99F1-B93E-42BD12179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39FCA4-B9D6-AE1E-3D8A-42A918C0DCFA}"/>
                  </a:ext>
                </a:extLst>
              </p:cNvPr>
              <p:cNvSpPr txBox="1"/>
              <p:nvPr/>
            </p:nvSpPr>
            <p:spPr>
              <a:xfrm>
                <a:off x="10698489" y="1825625"/>
                <a:ext cx="1101071" cy="11128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39FCA4-B9D6-AE1E-3D8A-42A918C0D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9" y="1825625"/>
                <a:ext cx="1101071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06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15921-219C-4CE7-FA62-E0B8E345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Hamilton’s principle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AF5E3-8880-6D96-734B-01B29688A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Lagrangian of the real trajectory of a system is a local optimum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Euler-Lagrange equation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FF9D0E-C5EF-4D53-890C-9F14B13AEEB5}"/>
                  </a:ext>
                </a:extLst>
              </p:cNvPr>
              <p:cNvSpPr txBox="1"/>
              <p:nvPr/>
            </p:nvSpPr>
            <p:spPr>
              <a:xfrm>
                <a:off x="1257300" y="2710598"/>
                <a:ext cx="3496662" cy="6519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FF9D0E-C5EF-4D53-890C-9F14B13AE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" y="2710598"/>
                <a:ext cx="3496662" cy="6519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58A779-7622-F2AC-8F83-96991E1FC251}"/>
                  </a:ext>
                </a:extLst>
              </p:cNvPr>
              <p:cNvSpPr txBox="1"/>
              <p:nvPr/>
            </p:nvSpPr>
            <p:spPr>
              <a:xfrm>
                <a:off x="1652690" y="4562475"/>
                <a:ext cx="2161938" cy="573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 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58A779-7622-F2AC-8F83-96991E1FC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690" y="4562475"/>
                <a:ext cx="2161938" cy="5735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80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A99E-F11F-A8A2-72F8-D1D08F81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Euler-Lagrange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9467C7-23F3-DCA3-F70F-86D0259BF9A2}"/>
                  </a:ext>
                </a:extLst>
              </p:cNvPr>
              <p:cNvSpPr txBox="1"/>
              <p:nvPr/>
            </p:nvSpPr>
            <p:spPr>
              <a:xfrm>
                <a:off x="447675" y="1509754"/>
                <a:ext cx="4058290" cy="34320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d>
                    </m:oMath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</m:e>
                      </m:nary>
                    </m:oMath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9467C7-23F3-DCA3-F70F-86D0259BF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" y="1509754"/>
                <a:ext cx="4058290" cy="34320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BF195A-C557-0296-339E-5CFC8239BF1F}"/>
                  </a:ext>
                </a:extLst>
              </p:cNvPr>
              <p:cNvSpPr txBox="1"/>
              <p:nvPr/>
            </p:nvSpPr>
            <p:spPr>
              <a:xfrm>
                <a:off x="4536345" y="1606548"/>
                <a:ext cx="5367338" cy="2134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m:rPr>
                          <m:aln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BF195A-C557-0296-339E-5CFC8239B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345" y="1606548"/>
                <a:ext cx="5367338" cy="21342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3B2C65-C436-0D50-6D36-EEE27FEC688B}"/>
              </a:ext>
            </a:extLst>
          </p:cNvPr>
          <p:cNvCxnSpPr>
            <a:cxnSpLocks/>
          </p:cNvCxnSpPr>
          <p:nvPr/>
        </p:nvCxnSpPr>
        <p:spPr>
          <a:xfrm flipV="1">
            <a:off x="4391025" y="2040595"/>
            <a:ext cx="1145412" cy="11217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1898DC-93D1-192E-7B20-FE9AA28E76B8}"/>
              </a:ext>
            </a:extLst>
          </p:cNvPr>
          <p:cNvSpPr/>
          <p:nvPr/>
        </p:nvSpPr>
        <p:spPr>
          <a:xfrm>
            <a:off x="2971800" y="2790825"/>
            <a:ext cx="1419225" cy="7609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B390F-E861-6DB8-077F-E4920E75E0E3}"/>
              </a:ext>
            </a:extLst>
          </p:cNvPr>
          <p:cNvSpPr txBox="1"/>
          <p:nvPr/>
        </p:nvSpPr>
        <p:spPr>
          <a:xfrm>
            <a:off x="9044114" y="2485452"/>
            <a:ext cx="195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part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9606DA-7959-250F-91FD-4C63EE938BB3}"/>
              </a:ext>
            </a:extLst>
          </p:cNvPr>
          <p:cNvSpPr txBox="1"/>
          <p:nvPr/>
        </p:nvSpPr>
        <p:spPr>
          <a:xfrm>
            <a:off x="9044114" y="3244334"/>
            <a:ext cx="326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variation at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CFA843-93B2-C7EA-4C1F-12EB46FA304B}"/>
                  </a:ext>
                </a:extLst>
              </p:cNvPr>
              <p:cNvSpPr txBox="1"/>
              <p:nvPr/>
            </p:nvSpPr>
            <p:spPr>
              <a:xfrm>
                <a:off x="272668" y="5107025"/>
                <a:ext cx="50899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this to be true for all possible variations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CFA843-93B2-C7EA-4C1F-12EB46FA3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68" y="5107025"/>
                <a:ext cx="5089907" cy="369332"/>
              </a:xfrm>
              <a:prstGeom prst="rect">
                <a:avLst/>
              </a:prstGeom>
              <a:blipFill>
                <a:blip r:embed="rId4"/>
                <a:stretch>
                  <a:fillRect l="-1078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7A2C6E-4145-2FE0-5589-16FB90C4FEA2}"/>
                  </a:ext>
                </a:extLst>
              </p:cNvPr>
              <p:cNvSpPr txBox="1"/>
              <p:nvPr/>
            </p:nvSpPr>
            <p:spPr>
              <a:xfrm>
                <a:off x="-457200" y="5517319"/>
                <a:ext cx="6267450" cy="665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7A2C6E-4145-2FE0-5589-16FB90C4F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7200" y="5517319"/>
                <a:ext cx="6267450" cy="665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772384-6652-9CD0-8F81-43EF2F8EC040}"/>
              </a:ext>
            </a:extLst>
          </p:cNvPr>
          <p:cNvSpPr/>
          <p:nvPr/>
        </p:nvSpPr>
        <p:spPr>
          <a:xfrm>
            <a:off x="1485900" y="5496513"/>
            <a:ext cx="2286000" cy="81150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0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46E1-9CE4-C76C-0537-ED3B0681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Mechanical System of Particles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B66A28-8614-6789-5B56-B69BDE37A195}"/>
                  </a:ext>
                </a:extLst>
              </p:cNvPr>
              <p:cNvSpPr txBox="1"/>
              <p:nvPr/>
            </p:nvSpPr>
            <p:spPr>
              <a:xfrm>
                <a:off x="1152525" y="2089793"/>
                <a:ext cx="1046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B66A28-8614-6789-5B56-B69BDE37A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525" y="2089793"/>
                <a:ext cx="1046248" cy="276999"/>
              </a:xfrm>
              <a:prstGeom prst="rect">
                <a:avLst/>
              </a:prstGeom>
              <a:blipFill>
                <a:blip r:embed="rId2"/>
                <a:stretch>
                  <a:fillRect l="-4651" r="-465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6742D4-702F-0F44-F3C7-6A434BD2218E}"/>
                  </a:ext>
                </a:extLst>
              </p:cNvPr>
              <p:cNvSpPr txBox="1"/>
              <p:nvPr/>
            </p:nvSpPr>
            <p:spPr>
              <a:xfrm>
                <a:off x="3274009" y="1586027"/>
                <a:ext cx="282199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6742D4-702F-0F44-F3C7-6A434BD22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009" y="1586027"/>
                <a:ext cx="2821991" cy="672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65E534-3E08-07C8-2A4B-096BC5284756}"/>
                  </a:ext>
                </a:extLst>
              </p:cNvPr>
              <p:cNvSpPr txBox="1"/>
              <p:nvPr/>
            </p:nvSpPr>
            <p:spPr>
              <a:xfrm>
                <a:off x="6341059" y="1734845"/>
                <a:ext cx="3509166" cy="310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⋯,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65E534-3E08-07C8-2A4B-096BC5284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059" y="1734845"/>
                <a:ext cx="3509166" cy="310791"/>
              </a:xfrm>
              <a:prstGeom prst="rect">
                <a:avLst/>
              </a:prstGeom>
              <a:blipFill>
                <a:blip r:embed="rId4"/>
                <a:stretch>
                  <a:fillRect l="-1215" t="-19608" r="-1910" b="-39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C64E7F-F18D-EA60-5EC3-3CA4EA5466CF}"/>
                  </a:ext>
                </a:extLst>
              </p:cNvPr>
              <p:cNvSpPr txBox="1"/>
              <p:nvPr/>
            </p:nvSpPr>
            <p:spPr>
              <a:xfrm>
                <a:off x="838200" y="3095625"/>
                <a:ext cx="2017796" cy="1720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C64E7F-F18D-EA60-5EC3-3CA4EA546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95625"/>
                <a:ext cx="2017796" cy="1720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431C28-2B26-2507-C14B-E8B4B0E090C5}"/>
                  </a:ext>
                </a:extLst>
              </p:cNvPr>
              <p:cNvSpPr txBox="1"/>
              <p:nvPr/>
            </p:nvSpPr>
            <p:spPr>
              <a:xfrm>
                <a:off x="3857081" y="3095625"/>
                <a:ext cx="1440331" cy="1720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431C28-2B26-2507-C14B-E8B4B0E09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081" y="3095625"/>
                <a:ext cx="1440331" cy="1720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738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85BC-49CE-47CB-B0D6-637D52DD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98A54-DD6B-5859-9911-B985D948E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49" y="1825625"/>
            <a:ext cx="10515600" cy="4351338"/>
          </a:xfrm>
        </p:spPr>
        <p:txBody>
          <a:bodyPr/>
          <a:lstStyle/>
          <a:p>
            <a:r>
              <a:rPr lang="en-US" dirty="0"/>
              <a:t>Generalized momenta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Hamiltonian function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Canonical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92D9D0-D109-DE6B-E01C-D91293FEB4BC}"/>
                  </a:ext>
                </a:extLst>
              </p:cNvPr>
              <p:cNvSpPr txBox="1"/>
              <p:nvPr/>
            </p:nvSpPr>
            <p:spPr>
              <a:xfrm>
                <a:off x="1095375" y="2307608"/>
                <a:ext cx="1381125" cy="573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92D9D0-D109-DE6B-E01C-D91293FEB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375" y="2307608"/>
                <a:ext cx="1381125" cy="5735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854739-7043-7012-495D-6F41E3A7C80B}"/>
                  </a:ext>
                </a:extLst>
              </p:cNvPr>
              <p:cNvSpPr txBox="1"/>
              <p:nvPr/>
            </p:nvSpPr>
            <p:spPr>
              <a:xfrm>
                <a:off x="838200" y="3633020"/>
                <a:ext cx="2876551" cy="7365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854739-7043-7012-495D-6F41E3A7C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33020"/>
                <a:ext cx="2876551" cy="7365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E6988-CFE4-6D55-8E4C-24663C802816}"/>
                  </a:ext>
                </a:extLst>
              </p:cNvPr>
              <p:cNvSpPr txBox="1"/>
              <p:nvPr/>
            </p:nvSpPr>
            <p:spPr>
              <a:xfrm>
                <a:off x="6772275" y="660400"/>
                <a:ext cx="4838701" cy="20508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Pontryagin H function in optimal control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Generalized momenta -&gt; costate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Costate dynamics 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E6988-CFE4-6D55-8E4C-24663C80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275" y="660400"/>
                <a:ext cx="4838701" cy="2050882"/>
              </a:xfrm>
              <a:prstGeom prst="rect">
                <a:avLst/>
              </a:prstGeom>
              <a:blipFill>
                <a:blip r:embed="rId4"/>
                <a:stretch>
                  <a:fillRect l="-1005" t="-8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1000F3-1417-FD5B-A965-22548F2BFF8E}"/>
                  </a:ext>
                </a:extLst>
              </p:cNvPr>
              <p:cNvSpPr txBox="1"/>
              <p:nvPr/>
            </p:nvSpPr>
            <p:spPr>
              <a:xfrm>
                <a:off x="1095375" y="4688558"/>
                <a:ext cx="873316" cy="573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1000F3-1417-FD5B-A965-22548F2BF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375" y="4688558"/>
                <a:ext cx="873316" cy="5735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FFC6FE-AD7D-D86A-9C96-D2257A670E55}"/>
                  </a:ext>
                </a:extLst>
              </p:cNvPr>
              <p:cNvSpPr txBox="1"/>
              <p:nvPr/>
            </p:nvSpPr>
            <p:spPr>
              <a:xfrm>
                <a:off x="2359217" y="4703555"/>
                <a:ext cx="1889300" cy="573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FFC6FE-AD7D-D86A-9C96-D2257A670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217" y="4703555"/>
                <a:ext cx="1889300" cy="5735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3CE5FF-71E4-EB89-C472-32393DFC5E6D}"/>
                  </a:ext>
                </a:extLst>
              </p:cNvPr>
              <p:cNvSpPr txBox="1"/>
              <p:nvPr/>
            </p:nvSpPr>
            <p:spPr>
              <a:xfrm>
                <a:off x="5082242" y="3883793"/>
                <a:ext cx="2590799" cy="2089996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Euler-Lagrange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0 </m:t>
                      </m:r>
                    </m:oMath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3CE5FF-71E4-EB89-C472-32393DFC5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242" y="3883793"/>
                <a:ext cx="2590799" cy="2089996"/>
              </a:xfrm>
              <a:prstGeom prst="rect">
                <a:avLst/>
              </a:prstGeom>
              <a:blipFill>
                <a:blip r:embed="rId7"/>
                <a:stretch>
                  <a:fillRect l="-1392" t="-860"/>
                </a:stretch>
              </a:blipFill>
              <a:ln w="381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C61FBD-D8CD-12D1-7911-69B127FCD12C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flipH="1">
            <a:off x="1532033" y="4369568"/>
            <a:ext cx="744443" cy="318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41A06F-00B8-4F34-E74C-8FCAA0E60E47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2276476" y="4369568"/>
            <a:ext cx="1027391" cy="333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16A3-77F1-C758-7C88-B3DEC7594F2C}"/>
                  </a:ext>
                </a:extLst>
              </p:cNvPr>
              <p:cNvSpPr txBox="1"/>
              <p:nvPr/>
            </p:nvSpPr>
            <p:spPr>
              <a:xfrm>
                <a:off x="1532033" y="6060833"/>
                <a:ext cx="1972271" cy="573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16A3-77F1-C758-7C88-B3DEC7594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033" y="6060833"/>
                <a:ext cx="1972271" cy="5735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1F78DE-1898-EADA-EA81-09ABF0137087}"/>
              </a:ext>
            </a:extLst>
          </p:cNvPr>
          <p:cNvCxnSpPr>
            <a:stCxn id="15" idx="1"/>
            <a:endCxn id="13" idx="3"/>
          </p:cNvCxnSpPr>
          <p:nvPr/>
        </p:nvCxnSpPr>
        <p:spPr>
          <a:xfrm flipH="1">
            <a:off x="4248517" y="4928791"/>
            <a:ext cx="833725" cy="61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77B01A-E5C9-CBE8-1EA6-6168892B8565}"/>
                  </a:ext>
                </a:extLst>
              </p:cNvPr>
              <p:cNvSpPr txBox="1"/>
              <p:nvPr/>
            </p:nvSpPr>
            <p:spPr>
              <a:xfrm>
                <a:off x="8664167" y="4092569"/>
                <a:ext cx="25985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77B01A-E5C9-CBE8-1EA6-6168892B8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4167" y="4092569"/>
                <a:ext cx="2598532" cy="276999"/>
              </a:xfrm>
              <a:prstGeom prst="rect">
                <a:avLst/>
              </a:prstGeom>
              <a:blipFill>
                <a:blip r:embed="rId9"/>
                <a:stretch>
                  <a:fillRect l="-1639" t="-2174" r="-281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77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9B535D5-859F-C68D-E2D0-BAEF35363D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8249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Dynamics of arbitrary quantity as a function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(but not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9B535D5-859F-C68D-E2D0-BAEF35363D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8249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286091D-7353-5317-3A26-65F26663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Poison Brackets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7019BA-39A5-96BA-A04C-F419C1C60732}"/>
                  </a:ext>
                </a:extLst>
              </p:cNvPr>
              <p:cNvSpPr txBox="1"/>
              <p:nvPr/>
            </p:nvSpPr>
            <p:spPr>
              <a:xfrm>
                <a:off x="685800" y="2288729"/>
                <a:ext cx="22002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7019BA-39A5-96BA-A04C-F419C1C60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88729"/>
                <a:ext cx="220027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F88416-BCE2-AABA-BD15-FEEB23F541C3}"/>
              </a:ext>
            </a:extLst>
          </p:cNvPr>
          <p:cNvSpPr txBox="1">
            <a:spLocks/>
          </p:cNvSpPr>
          <p:nvPr/>
        </p:nvSpPr>
        <p:spPr>
          <a:xfrm>
            <a:off x="685800" y="16584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66CE88-4083-F5C8-1B8E-AD29C493B142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FF2830-2281-A4E6-172B-CAA48422C81D}"/>
                  </a:ext>
                </a:extLst>
              </p:cNvPr>
              <p:cNvSpPr txBox="1"/>
              <p:nvPr/>
            </p:nvSpPr>
            <p:spPr>
              <a:xfrm>
                <a:off x="342898" y="3211819"/>
                <a:ext cx="5314951" cy="1379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𝑑𝐹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FF2830-2281-A4E6-172B-CAA48422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8" y="3211819"/>
                <a:ext cx="5314951" cy="1379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C159862-F5A3-7985-97E5-8BF1D317CA75}"/>
              </a:ext>
            </a:extLst>
          </p:cNvPr>
          <p:cNvSpPr txBox="1"/>
          <p:nvPr/>
        </p:nvSpPr>
        <p:spPr>
          <a:xfrm>
            <a:off x="5114926" y="4031464"/>
            <a:ext cx="1771650" cy="36933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Poison Brackets</a:t>
            </a:r>
          </a:p>
        </p:txBody>
      </p:sp>
    </p:spTree>
    <p:extLst>
      <p:ext uri="{BB962C8B-B14F-4D97-AF65-F5344CB8AC3E}">
        <p14:creationId xmlns:p14="http://schemas.microsoft.com/office/powerpoint/2010/main" val="3551033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8">
                <a:extLst>
                  <a:ext uri="{FF2B5EF4-FFF2-40B4-BE49-F238E27FC236}">
                    <a16:creationId xmlns:a16="http://schemas.microsoft.com/office/drawing/2014/main" id="{64298CC1-8F80-1EF6-03CD-92455049C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8249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If H is not an explicit function of t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8">
                <a:extLst>
                  <a:ext uri="{FF2B5EF4-FFF2-40B4-BE49-F238E27FC236}">
                    <a16:creationId xmlns:a16="http://schemas.microsoft.com/office/drawing/2014/main" id="{64298CC1-8F80-1EF6-03CD-92455049C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8249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845CB82-65C8-C20A-A618-8E3619B2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2DADE5-A732-0AF2-2FC1-215CF267807B}"/>
                  </a:ext>
                </a:extLst>
              </p:cNvPr>
              <p:cNvSpPr txBox="1"/>
              <p:nvPr/>
            </p:nvSpPr>
            <p:spPr>
              <a:xfrm>
                <a:off x="838200" y="2824163"/>
                <a:ext cx="4283352" cy="6897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2DADE5-A732-0AF2-2FC1-215CF2678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24163"/>
                <a:ext cx="4283352" cy="6897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7E3EE6-0F3D-D432-A43D-FB2F5EC52D28}"/>
                  </a:ext>
                </a:extLst>
              </p:cNvPr>
              <p:cNvSpPr txBox="1"/>
              <p:nvPr/>
            </p:nvSpPr>
            <p:spPr>
              <a:xfrm>
                <a:off x="1314450" y="3650169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7E3EE6-0F3D-D432-A43D-FB2F5EC52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3650169"/>
                <a:ext cx="60960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255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4BD5-EB34-2987-DA9D-95829E6F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Mechanical 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D8650D-550C-036C-A7D3-0FD22F0057CF}"/>
                  </a:ext>
                </a:extLst>
              </p:cNvPr>
              <p:cNvSpPr txBox="1"/>
              <p:nvPr/>
            </p:nvSpPr>
            <p:spPr>
              <a:xfrm>
                <a:off x="990600" y="1690688"/>
                <a:ext cx="1046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D8650D-550C-036C-A7D3-0FD22F005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690688"/>
                <a:ext cx="1046248" cy="276999"/>
              </a:xfrm>
              <a:prstGeom prst="rect">
                <a:avLst/>
              </a:prstGeom>
              <a:blipFill>
                <a:blip r:embed="rId2"/>
                <a:stretch>
                  <a:fillRect l="-5263" r="-467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2B19CE-C1AA-F209-2181-0DFEAE6E42CD}"/>
                  </a:ext>
                </a:extLst>
              </p:cNvPr>
              <p:cNvSpPr txBox="1"/>
              <p:nvPr/>
            </p:nvSpPr>
            <p:spPr>
              <a:xfrm>
                <a:off x="190500" y="2175518"/>
                <a:ext cx="3419475" cy="31308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den>
                      </m:f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den>
                      </m:f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  <m:oMath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2B19CE-C1AA-F209-2181-0DFEAE6E4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175518"/>
                <a:ext cx="3419475" cy="3130857"/>
              </a:xfrm>
              <a:prstGeom prst="rect">
                <a:avLst/>
              </a:prstGeom>
              <a:blipFill>
                <a:blip r:embed="rId3"/>
                <a:stretch>
                  <a:fillRect t="-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AB8CF0-9DA4-4E3D-9FC8-D224DCF12542}"/>
                  </a:ext>
                </a:extLst>
              </p:cNvPr>
              <p:cNvSpPr txBox="1"/>
              <p:nvPr/>
            </p:nvSpPr>
            <p:spPr>
              <a:xfrm>
                <a:off x="3274009" y="1586027"/>
                <a:ext cx="282199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AB8CF0-9DA4-4E3D-9FC8-D224DCF12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009" y="1586027"/>
                <a:ext cx="2821991" cy="672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52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C7DA-EA37-CCDD-C7CA-99597ECC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and angular momentum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B0495-200A-F030-FFC1-4CFD877EF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5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2318</TotalTime>
  <Words>513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Classical Mechanics</vt:lpstr>
      <vt:lpstr>States of a system</vt:lpstr>
      <vt:lpstr>Hamilton’s principle </vt:lpstr>
      <vt:lpstr>Proof: Euler-Lagrange</vt:lpstr>
      <vt:lpstr>Example : Mechanical System of Particles</vt:lpstr>
      <vt:lpstr>Hamiltonian Function</vt:lpstr>
      <vt:lpstr>Poison Brackets</vt:lpstr>
      <vt:lpstr>Energy</vt:lpstr>
      <vt:lpstr>Example: Mechanical Energy</vt:lpstr>
      <vt:lpstr>Linear and angular momentum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Wong</dc:creator>
  <cp:lastModifiedBy>Benjamin Wong</cp:lastModifiedBy>
  <cp:revision>10</cp:revision>
  <dcterms:created xsi:type="dcterms:W3CDTF">2026-10-07T07:02:44Z</dcterms:created>
  <dcterms:modified xsi:type="dcterms:W3CDTF">2026-10-10T05:47:32Z</dcterms:modified>
</cp:coreProperties>
</file>